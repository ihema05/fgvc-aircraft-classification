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56A0">
              <a:alpha val="25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FGVC Aircraft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Classification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Built from Scratch · PyTorch · 100 Aircraft Classes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A56A0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31089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A56A0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31089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A56A0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Classification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9440" y="31089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A56A0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FGVC 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Report  ·  University Deep Learning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6868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6868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868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4114800" cy="411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7160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7160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37160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37160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1874520"/>
            <a:ext cx="4114800" cy="411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87452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7452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1874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87452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87452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87452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874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377440"/>
            <a:ext cx="4114800" cy="411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37744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7744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2377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237744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37744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37744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2377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88036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88036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Hardware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288036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88036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88036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Optimisation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383280"/>
            <a:ext cx="4114800" cy="411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383280"/>
            <a:ext cx="384048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83280"/>
            <a:ext cx="384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Project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Problem · Dataset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Project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fine-grained visual classification (FGVC) system that identifies aircraft variants from photographs — built entirely from scratch using PyTorch with no pretrained weights.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04672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87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Problem Solved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image classification: distinguishing visually similar aircraft models (e.g. Boeing 737-700 vs 737-800) where differences are subtle — fuselage length, winglet shape, engine placement.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804672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987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Dataset Used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FGVC Aircraft Dataset (Kaggle). Real-world aviation photographs across 100 aircraft variant classes. A recognised benchmark for fine-grained recognition research.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Dataset Description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· Split · Preprocessing · Challenges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82880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14400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1401318"/>
            <a:ext cx="182880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Classes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822960"/>
            <a:ext cx="1828800" cy="1051560"/>
          </a:xfrm>
          <a:prstGeom prst="rect">
            <a:avLst/>
          </a:prstGeom>
          <a:solidFill>
            <a:srgbClr val="1A56A0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914400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31720" y="1401318"/>
            <a:ext cx="182880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822960"/>
            <a:ext cx="1828800" cy="1051560"/>
          </a:xfrm>
          <a:prstGeom prst="rect">
            <a:avLst/>
          </a:prstGeom>
          <a:solidFill>
            <a:srgbClr val="1A3A6A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914400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160×160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34840" y="1401318"/>
            <a:ext cx="182880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 (px)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822960"/>
            <a:ext cx="1828800" cy="1051560"/>
          </a:xfrm>
          <a:prstGeom prst="rect">
            <a:avLst/>
          </a:prstGeom>
          <a:solidFill>
            <a:srgbClr val="0F3060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914400"/>
            <a:ext cx="182880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80/10/10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37960" y="1401318"/>
            <a:ext cx="182880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Split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2316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Split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Proportion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Training 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Weight updates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Validation 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Hyperparameter tuning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Test 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Final evaluation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120640" y="20574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2377440"/>
            <a:ext cx="3794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(50% probability)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±10° (camera tilt)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jitter — brightness, contrast, saturation ±20%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Normalise: mean [0.5, 0.5, 0.5], std [0.5, 0.5, 0.5]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Model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4-Block CNN · Global Avg Pool · FC Head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Architecture — Built From Scratch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" y="1371600"/>
            <a:ext cx="100584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3×160×160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1371600"/>
            <a:ext cx="1005840" cy="1371600"/>
          </a:xfrm>
          <a:prstGeom prst="rect">
            <a:avLst/>
          </a:prstGeom>
          <a:solidFill>
            <a:srgbClr val="1A56A0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61872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61872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Conv→BN→ReLU×2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· Dropout 10%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ch · 80×80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67712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1371600"/>
            <a:ext cx="1005840" cy="1371600"/>
          </a:xfrm>
          <a:prstGeom prst="rect">
            <a:avLst/>
          </a:prstGeom>
          <a:solidFill>
            <a:srgbClr val="1A56A0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32304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32304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Conv→BN→ReLU×2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· Dropout 10%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 · 40×40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38144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1371600"/>
            <a:ext cx="1005840" cy="1371600"/>
          </a:xfrm>
          <a:prstGeom prst="rect">
            <a:avLst/>
          </a:prstGeom>
          <a:solidFill>
            <a:srgbClr val="1A4A9A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02736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02736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Conv→BN→ReLU×2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· Dropout 20%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 · 20×20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08576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1371600"/>
            <a:ext cx="1005840" cy="1371600"/>
          </a:xfrm>
          <a:prstGeom prst="rect">
            <a:avLst/>
          </a:prstGeom>
          <a:solidFill>
            <a:srgbClr val="0D3070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Conv→BN→ReLU×2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· Dropout 20%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 · 10×10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79008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371600"/>
            <a:ext cx="100584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256×1×1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9440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14032" y="1371600"/>
            <a:ext cx="1005840" cy="1371600"/>
          </a:xfrm>
          <a:prstGeom prst="rect">
            <a:avLst/>
          </a:prstGeom>
          <a:solidFill>
            <a:srgbClr val="0A1F45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14032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 Head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14032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256→512→256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BN+ReLU+Dropout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19872" y="2057400"/>
            <a:ext cx="164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1371600"/>
            <a:ext cx="1005840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84464" y="14447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84464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Classes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29718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Normal weight initialisation for all Conv &amp; Linear layers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Normalisation after every Conv layer — stabilises training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Dropout2d in conv blocks (10%→20%) — more effective than standard dropout for CNNs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replaces large Flatten layer — reduces params &amp;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Hyperparameters — Values &amp; Effects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22960"/>
          <a:ext cx="8686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2880360"/>
                <a:gridCol w="2880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Hyperparameter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 if Increased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 if Decreased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(+ early stop)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overfitting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underfit — too few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stable gradients, more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Noisier updates, may help escape minima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diverge / oscillate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convergence, may stall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(FC)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/ 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Under-learning if too aggressive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increases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× 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Finer details captured, slower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subtle discriminating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Smoothing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may lose confidence on clear 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Overconfident predictions, worse generalisation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shrink too much, underfitting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weights, more overfitting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Training Process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· Optimiser · Strategy · Hardware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Process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96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28016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 with label smoothing (α=0.1). Softens hard targets — assigns 0.9 to true class and distributes 0.1 across all others. Prevents overconfidence and improves generalisation.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743200" cy="15087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04672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96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28016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lr=0.0005, weight decay=1e-4. Adaptive per-parameter learning rates combining Momentum and RMSProp. Weight decay adds L2 regularisation to discourage large weights.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1508760"/>
          </a:xfrm>
          <a:prstGeom prst="rect">
            <a:avLst/>
          </a:prstGeom>
          <a:solidFill>
            <a:srgbClr val="1A4A9A"/>
          </a:solidFill>
          <a:ln w="12700">
            <a:solidFill>
              <a:srgbClr val="1A4A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804672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896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Scheduler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128016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— halves LR (×0.5) after 3 epochs of no val-loss improvement. Allows aggressive early learning and fine-grained convergence later.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50592"/>
            <a:ext cx="2743200" cy="1508760"/>
          </a:xfrm>
          <a:prstGeom prst="rect">
            <a:avLst/>
          </a:prstGeom>
          <a:solidFill>
            <a:srgbClr val="0D3070"/>
          </a:solidFill>
          <a:ln w="12700">
            <a:solidFill>
              <a:srgbClr val="0D30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450592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54203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" y="292608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if validation accuracy doesn't improve for 20 consecutive epochs. Best model checkpoint is saved and used for final evaluation — not last epoch.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450592"/>
            <a:ext cx="2743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450592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54203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Clipping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292608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norm = 1.0 applied per step. Prevents exploding gradients from destabilising training in deeper or poorly initialised networks.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450592"/>
            <a:ext cx="2743200" cy="1508760"/>
          </a:xfrm>
          <a:prstGeom prst="rect">
            <a:avLst/>
          </a:prstGeom>
          <a:solidFill>
            <a:srgbClr val="0A1F45"/>
          </a:solidFill>
          <a:ln w="12700">
            <a:solidFill>
              <a:srgbClr val="0A1F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450592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254203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292608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 (Google Colab T4). Pin memory enabled for faster CPU→GPU transfer. cudnn.benchmark=True for fastest Conv algorithm selection. CPU fallback available but ~20× slower.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Results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Loss · Evaluation · Discussion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96596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841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checkpoint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" y="1353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196596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841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Held-out 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96312" y="1353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804672"/>
            <a:ext cx="196596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841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 · Loss · F1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0872" y="1353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804672"/>
            <a:ext cx="196596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5432" y="841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~3–5M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85432" y="1353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" y="2468880"/>
            <a:ext cx="4114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 (top-1) on test set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+ validation loss curves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(100×100 heatmap)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— precision, recall, F1 per class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prediction grid — 9 random test images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4251960" cy="26974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94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Predictions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33472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background, standard viewing angle, well-lit image — model identifies correctly.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angle, heavy cropping, visually identical twin aircraft — model struggles.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+ 07  Limitations &amp; Data Challenges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· Dataset Problems · Why Predictions Fail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Data-Related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207008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scratch: no inherited feature knowledge — needs more data &amp; epochs than pretrained models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risk: fine-grained datasets have few samples per class; regularisation critical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constraint: 160×160 px discards subtle detail that differentiates similar variants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GPU required for practical training; CPU is 20-30× slower per epoch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mechanism: cannot focus on discriminating parts like wings or engines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8046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Data-Related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07008"/>
            <a:ext cx="4251960" cy="749808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2435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Class Imbalance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airliners have many more images than rare/retired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12140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1579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👀  Visual Similarity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4688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A320-200 vs A321-200 differ only in fuselage length — invisible at low 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035808"/>
            <a:ext cx="4251960" cy="749808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0723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Image Quality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3832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professional telephoto and amateur/screenshot images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95020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9867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Background &amp; Angle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4297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Runways, gates, airshows — background varies dramatically across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Future Improvements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· Training · Inference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20848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804672"/>
            <a:ext cx="208483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47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353312"/>
            <a:ext cx="190195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(ResNet-style skip connections)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Squeeze-and-excitation channel attention blocks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 for self-attention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backbones — more capacity for fine-grained features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2304" y="804672"/>
            <a:ext cx="20848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2304" y="804672"/>
            <a:ext cx="208483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841248"/>
            <a:ext cx="1947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 Data &amp; Augmentation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23744" y="1353312"/>
            <a:ext cx="190195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— linear interpolation between image pairs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— paste regions from one image onto another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 — principled random policy search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/ more balanced training datasets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0016" y="804672"/>
            <a:ext cx="20848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804672"/>
            <a:ext cx="208483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841248"/>
            <a:ext cx="1947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🏋️  Training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1456" y="1353312"/>
            <a:ext cx="190195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ImageNet pretrained backbone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LR schedule for smoother convergence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accumulation for effective larger batches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to compensate for imbalance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67728" y="804672"/>
            <a:ext cx="20848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67728" y="804672"/>
            <a:ext cx="208483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841248"/>
            <a:ext cx="1947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Inference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59168" y="1353312"/>
            <a:ext cx="190195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quantisation — 4× size reduction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for cross-platform deployment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into a smaller student model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for GPU-accelerated production inference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Deployment &amp; Hardware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this model run?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Deployment &amp; Hardware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04672"/>
          <a:ext cx="8686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4937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Feasibility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Notes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☁️  Cloud GPU (A100, V100)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Optimal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training &amp; inference — recommended for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🖥️  Desktop PC with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GPUs (RTX 3060+) handle inference comfortably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💻  Desktop PC (CPU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Slow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~100–300ms/image. Not suitable for real-time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💻  High-end Laptop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Laptops with dedicated GPUs perform comparably to desktops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📘  Low-end Laptop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inference possible; use optimised/quantised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📱  Mobile 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 Needs 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ONNX + INT8 quantisation — not deployable 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🤖  Edge AI (Jetson Nano)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 With ONNX+INT8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with TensorRT or ONNX Runtime — ~100ms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~12–20 MB model weights (FP32)  ·  GPU inference: &lt;10ms/image  ·  CPU inference: ~100–300ms/image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Model Optimisation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 · ONNX Export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Optimisation — Quantisation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86868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Quantisation?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model weight precision from FP32 (32-bit float, ~7 decimal digits) to INT8 (8-bit integer, range −128 to 127). A scale + zero-point mapping converts between them. Produces up to 4× smaller models with 2–3× faster inference — at minimal accuracy cost (&lt;1%).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8470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Post-Training Quantisation (PTQ)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1945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calibration dataset through the trained model → compute scale/zero-point → quantise. No retraining needed. Quick to apply. Slight accuracy drop on fine-grained tasks.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8470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Quantisation-Aware Training (QAT)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INT8 quantisation noise during training. The model learns to compensate. Better final accuracy than PTQ — especially on fine-grained tasks. Requires re-training. Recommended for production.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108960"/>
          <a:ext cx="8686800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Advantage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Disadvantage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model size reduction (FP32 → INT8)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accuracy drop (usually &lt; 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2–3× faster inference on CPU &amp;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Calibration/re-training effort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RAM requirements for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 layers quantise cleanly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Optimisation — ONNX Export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804672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ONNX?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Neural Network Exchange — an open standard for representing ML models as a framework-independent computation graph. A PyTorch model exported to ONNX runs on any platform using ONNX Runtime, without needing PyTorch installed.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755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ONNX?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1031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Framework-agnostic: run from C++, Java, JavaScript, Swift, Kotlin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graph optimisations: operator fusion, constant folding, memory layout — typically 20–50% speedup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training (Python/PyTorch) from production (any runtime)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export → deployable on Windows, Linux, macOS, iOS, Android, 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75564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Compatibility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103120"/>
          <a:ext cx="4343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48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Runtime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/ Linux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onnxruntime (Python/C++)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CoreML or onnxruntime-osx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onnxruntime-android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CoreML or onnxruntime-objc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Jetson Nano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TensorRT (via ONNX)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onnxruntime-linux-aarch64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28600" y="4480560"/>
            <a:ext cx="868680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Export: torch.onnx.export(model, dummy_input, 'aircraft.onnx', opset_version=13)  — see Notebook Section 18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Strengths · Weaknesses ·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804672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designed, trained, and evaluated a custom CNN for fine-grained aircraft classification across 100 classes — built entirely from scratch in PyTorch. The full pipeline from data loading to deployment preparation was implemented and documented.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" y="1755648"/>
            <a:ext cx="283464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55648"/>
            <a:ext cx="2834640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73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Strengths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2240280"/>
            <a:ext cx="263347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from-scratch: proves CNN fundamentals work without pretrained shortcuts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Well-regularised: BN, dropout, weight decay, gradient clipping, label smoothing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evaluation: accuracy, loss, confusion matrix, classification report, visual predictions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Production-aware: ONNX export + quantisation covered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755648"/>
            <a:ext cx="2834640" cy="3200400"/>
          </a:xfrm>
          <a:prstGeom prst="rect">
            <a:avLst/>
          </a:prstGeom>
          <a:solidFill>
            <a:srgbClr val="FFEBEE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55648"/>
            <a:ext cx="2834640" cy="411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73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Weaknesses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0128" y="2240280"/>
            <a:ext cx="263347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ceiling without transfer learning — pretrained models score higher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160×160 resolution loses fine-grained detail between similar variants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not corrected with weighted sampling or loss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mechanism — cannot focus on discriminating parts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755648"/>
            <a:ext cx="2834640" cy="3200400"/>
          </a:xfrm>
          <a:prstGeom prst="rect">
            <a:avLst/>
          </a:prstGeom>
          <a:solidFill>
            <a:srgbClr val="D6E8FA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755648"/>
            <a:ext cx="2834640" cy="411480"/>
          </a:xfrm>
          <a:prstGeom prst="rect">
            <a:avLst/>
          </a:prstGeom>
          <a:solidFill>
            <a:srgbClr val="0D3070"/>
          </a:solidFill>
          <a:ln w="12700">
            <a:solidFill>
              <a:srgbClr val="0D3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73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Recommendations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81928" y="2240280"/>
            <a:ext cx="263347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ImageNet pretraining (ResNet-50 / EfficientNet-B3) — biggest accuracy gain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resolution to 224×224 to capture subtle variant differences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MixUp/CutMix augmentation + class-weighted loss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 + INT8 quantise for device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FGVC Aircraft CNN  ·  Deep Learning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FGVC Aircraft (Kaggle)  ·  Framework: PyTorch  ·  100 Classes  ·  Custom CNN from Scratch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FGVC Aircraft CNN Classification</dc:title>
  <dc:subject>PptxGenJS Presentation</dc:subject>
  <dc:creator>Deep Learning Project</dc:creator>
  <cp:lastModifiedBy>Deep Learning Project</cp:lastModifiedBy>
  <cp:revision>1</cp:revision>
  <dcterms:created xsi:type="dcterms:W3CDTF">2026-05-09T11:07:28Z</dcterms:created>
  <dcterms:modified xsi:type="dcterms:W3CDTF">2026-05-09T11:07:28Z</dcterms:modified>
</cp:coreProperties>
</file>